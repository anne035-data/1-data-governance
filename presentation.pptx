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BEF"/>
    <a:srgbClr val="CEE6C0"/>
    <a:srgbClr val="E8F3E1"/>
    <a:srgbClr val="FEC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DCA63-7E55-BA35-834A-EE9D86709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EE5B45-3292-B653-52B0-5CE8E6F65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08196B-E19A-AB09-E881-2350EAD6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1754E4-DC46-403F-3CDE-BF8792098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9ADBDC-5365-B5A5-1CD0-186688EE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89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AAED46-2112-929F-C256-12BF4E70E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9E66FA-B286-B478-4C87-8DA24D8A5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6C103D-DA97-F876-BB7E-4A1DAD13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17FF3B-D58F-CE76-88D2-2C94316B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535C60-538B-948E-DA5B-DA11C3BC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26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2A92FD-4773-AB07-A04E-081AFE91C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43DF71-D9AF-70C2-F5B5-3F040983C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784C34-1DF9-FB41-A1D5-EF39FBAA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5EC517-80F7-C582-BC6C-C0767F19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65B000-A6BD-F020-F912-AF50D6AE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78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5F021-84F7-CF96-156E-702638CA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4E559B-0814-E38A-D0C0-7C6A027E5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9FF121-8F25-88BF-A165-BC7C000A1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DE74951-3B49-DA16-77DF-51120F53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1D6F89-E188-5C62-4D0D-E345D8FB3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BD8ACF-BEF1-AB63-2494-168C36D4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119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4F5DA2-090C-E4D1-02DA-3D1A8EAF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902504-F7E7-618D-C655-9CB531FCB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99961E-18C5-0DFE-7D84-3723CDC2F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E39275-EA08-860B-496F-99F2BF76C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ED43118-A763-75E0-08E3-448020054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220C01-EB23-4109-DF7D-A2673D5B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B79339C-3AED-F0EE-1F25-C7121E6F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BA3A7AC-7DB9-4F39-D0C4-B860D33C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41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AC197-0E43-FB31-A371-567AEABE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ADC8ED-0FED-B542-A21F-A6A4ADE6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2C1865-3DAD-71E3-2861-8D82BAEE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D3C2FF-D1AB-6F83-A8C9-BB367672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12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5A93395-6D36-018E-F1AD-CFF9118A9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4FACC8-B500-252B-4ABE-1BB9BA6A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355E32-0F24-37EB-1481-A7D81A95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92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7C295-8AD3-7E37-DF27-3BF2EC09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D65A1B-947C-9B46-905B-BDDFC1C57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C6C73C-106A-73F2-2592-6DC47247B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859C55-EEB8-A154-CE6F-E16000CDD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E758F2-62C4-4394-A574-3388C4FA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947609-3991-AEA7-D9CF-4CB159683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03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29959C-94AB-FA36-D610-FCA1EC52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E9959D3-D338-3458-0286-623BD8E60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8B8795-AB56-C441-FFB2-CF1EAC2A3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91017B-45E5-D9D8-E8BF-AE705181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0447F7-BFAC-E77C-A46C-CB5BD8B2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C1562D-5FD0-93E8-69B6-B9239B56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06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F6567-3123-57EA-20B2-7D701214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63A31D-529C-A3E3-A940-2A54BBDC0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260C29-A057-A3DF-FEA6-66600FFB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7A09E4-A084-DB0C-57AB-347C7566F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818812-F815-D87F-91EE-3921F1E9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863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53FB297-1D44-0A2F-EA91-160756D4E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CB4B3C-5DA8-E715-9457-0F49A366C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5A8CD7-4CB6-C363-A8D0-5F543052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DBCBB0-E38B-1B2B-1F0A-1CD0A38E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C35282-F7C2-2DE0-DD6C-E25ED31B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32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CAFF">
                <a:alpha val="38000"/>
              </a:srgbClr>
            </a:gs>
            <a:gs pos="53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3652115-A3CF-CD7F-534F-B9AE9AB4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745386-0FE1-9FD5-C9FB-39CC87B4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D1582D-A42D-7A0B-B755-E9FAED423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80970-1D0E-4226-9FDB-4BE6CD3685FA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EC1967-DE97-7F33-5DAA-C4DFAE6DD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D916D2-6B9C-90EC-B5BC-E7E383542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93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DE30ADE4-A252-6DA1-3E46-EEBA2C888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173" y="4156324"/>
            <a:ext cx="7897327" cy="228631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4F99E25-253F-DD89-053B-1624AC5E2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709" y="1517904"/>
            <a:ext cx="5941022" cy="2359822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723196D1-819B-9B02-EBAF-5F1D96DFC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65231C5-9202-550F-5ABA-EFAA4B8D1E70}"/>
              </a:ext>
            </a:extLst>
          </p:cNvPr>
          <p:cNvSpPr txBox="1"/>
          <p:nvPr/>
        </p:nvSpPr>
        <p:spPr>
          <a:xfrm>
            <a:off x="868680" y="1291432"/>
            <a:ext cx="4535424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La Data au Cœur de Spotify</a:t>
            </a:r>
          </a:p>
          <a:p>
            <a:r>
              <a:rPr lang="fr-FR" dirty="0"/>
              <a:t>Chaque jour, Spotify traite</a:t>
            </a:r>
          </a:p>
          <a:p>
            <a:r>
              <a:rPr lang="fr-FR" sz="3200" b="1" dirty="0">
                <a:solidFill>
                  <a:srgbClr val="7030A0"/>
                </a:solidFill>
              </a:rPr>
              <a:t>1400 milliards </a:t>
            </a:r>
          </a:p>
          <a:p>
            <a:r>
              <a:rPr lang="fr-FR" dirty="0"/>
              <a:t>D’événements data pour</a:t>
            </a:r>
          </a:p>
          <a:p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600 millions</a:t>
            </a:r>
          </a:p>
          <a:p>
            <a:r>
              <a:rPr lang="fr-FR" dirty="0"/>
              <a:t>D’utilisateurs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399A8996-5BFE-0D97-7334-E81573349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8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BCC4-5593-EE54-26A2-FB4D1E02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8C2B1E61-C394-03D3-9A25-42F659D28ED4}"/>
              </a:ext>
            </a:extLst>
          </p:cNvPr>
          <p:cNvSpPr/>
          <p:nvPr/>
        </p:nvSpPr>
        <p:spPr>
          <a:xfrm>
            <a:off x="7089483" y="3835232"/>
            <a:ext cx="4441701" cy="11037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26C9FFE-29B3-D5DB-A6AE-8FB5A02125F8}"/>
              </a:ext>
            </a:extLst>
          </p:cNvPr>
          <p:cNvSpPr/>
          <p:nvPr/>
        </p:nvSpPr>
        <p:spPr>
          <a:xfrm>
            <a:off x="7089483" y="2637533"/>
            <a:ext cx="4441701" cy="11037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686E1F2-1B23-E7DC-42F9-200AE4E14281}"/>
              </a:ext>
            </a:extLst>
          </p:cNvPr>
          <p:cNvSpPr/>
          <p:nvPr/>
        </p:nvSpPr>
        <p:spPr>
          <a:xfrm>
            <a:off x="7089483" y="1439834"/>
            <a:ext cx="4441701" cy="11037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FD8C8-D17A-9206-CF2F-881484630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142FAC3-F3B9-0724-7FE2-EAF79D845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329E004-419E-3BCF-712F-24E0DAAC1C75}"/>
              </a:ext>
            </a:extLst>
          </p:cNvPr>
          <p:cNvSpPr txBox="1"/>
          <p:nvPr/>
        </p:nvSpPr>
        <p:spPr>
          <a:xfrm>
            <a:off x="1568114" y="374642"/>
            <a:ext cx="4870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7030A0"/>
                </a:solidFill>
              </a:rPr>
              <a:t>Diagnostics et Défis actuels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1B03B5E-78F2-93BB-4AC0-12926F61E2C7}"/>
              </a:ext>
            </a:extLst>
          </p:cNvPr>
          <p:cNvSpPr txBox="1"/>
          <p:nvPr/>
        </p:nvSpPr>
        <p:spPr>
          <a:xfrm>
            <a:off x="7210425" y="1724174"/>
            <a:ext cx="4862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effectLst/>
                <a:latin typeface="Arial" panose="020B0604020202020204" pitchFamily="34" charset="0"/>
              </a:rPr>
              <a:t>Qualité et accessibilité des données</a:t>
            </a:r>
          </a:p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D881A4E-4C9E-D69B-C209-6CB8A6EAFF69}"/>
              </a:ext>
            </a:extLst>
          </p:cNvPr>
          <p:cNvSpPr txBox="1"/>
          <p:nvPr/>
        </p:nvSpPr>
        <p:spPr>
          <a:xfrm>
            <a:off x="8006012" y="2929629"/>
            <a:ext cx="2866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</a:rPr>
              <a:t>C</a:t>
            </a:r>
            <a:r>
              <a:rPr lang="fr-FR" sz="1800" dirty="0">
                <a:effectLst/>
                <a:latin typeface="Arial" panose="020B0604020202020204" pitchFamily="34" charset="0"/>
              </a:rPr>
              <a:t>onformité et éthique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29B5CB9-107D-DA95-C46B-CD8C4DFAA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203" y="1738387"/>
            <a:ext cx="4441701" cy="33812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30D75CD-124B-DDCE-5E2F-3EECEDB46F57}"/>
              </a:ext>
            </a:extLst>
          </p:cNvPr>
          <p:cNvSpPr txBox="1"/>
          <p:nvPr/>
        </p:nvSpPr>
        <p:spPr>
          <a:xfrm>
            <a:off x="8149045" y="4147444"/>
            <a:ext cx="2322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</a:rPr>
              <a:t>Impacts business</a:t>
            </a:r>
            <a:endParaRPr lang="fr-FR" sz="1800" dirty="0">
              <a:effectLst/>
              <a:latin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0DB5405-4752-2ACE-D152-608F06D74F60}"/>
              </a:ext>
            </a:extLst>
          </p:cNvPr>
          <p:cNvSpPr txBox="1"/>
          <p:nvPr/>
        </p:nvSpPr>
        <p:spPr>
          <a:xfrm>
            <a:off x="2419350" y="130492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Schéma de maturité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106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1608F-8B99-7DE2-67D1-D460CDC3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563228E-F411-B7C2-6292-C639F26B6228}"/>
              </a:ext>
            </a:extLst>
          </p:cNvPr>
          <p:cNvSpPr/>
          <p:nvPr/>
        </p:nvSpPr>
        <p:spPr>
          <a:xfrm>
            <a:off x="502920" y="1298448"/>
            <a:ext cx="9509760" cy="19293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65E5B40-17DB-0037-A5DE-5F273BE64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F422343-8410-C161-002D-C84859C8C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C452353-3EF2-1FC7-DE1C-B9D22CEDF939}"/>
              </a:ext>
            </a:extLst>
          </p:cNvPr>
          <p:cNvSpPr txBox="1"/>
          <p:nvPr/>
        </p:nvSpPr>
        <p:spPr>
          <a:xfrm>
            <a:off x="1247775" y="428264"/>
            <a:ext cx="3977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7030A0"/>
                </a:solidFill>
              </a:rPr>
              <a:t>Solutions proposées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8E72691-2BC4-69BF-8EC3-305EAD205222}"/>
              </a:ext>
            </a:extLst>
          </p:cNvPr>
          <p:cNvSpPr txBox="1"/>
          <p:nvPr/>
        </p:nvSpPr>
        <p:spPr>
          <a:xfrm>
            <a:off x="628723" y="1353939"/>
            <a:ext cx="3144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Center of Excellence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90DA8B0-442B-30C0-A0F6-5724F5F67854}"/>
              </a:ext>
            </a:extLst>
          </p:cNvPr>
          <p:cNvSpPr txBox="1"/>
          <p:nvPr/>
        </p:nvSpPr>
        <p:spPr>
          <a:xfrm>
            <a:off x="666794" y="1764604"/>
            <a:ext cx="2902419" cy="150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Organisation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Structure centrale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Équipes locales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Support global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Gouvernance unifiée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43E7F92-0E43-F7DF-A4E5-F8753661AE80}"/>
              </a:ext>
            </a:extLst>
          </p:cNvPr>
          <p:cNvSpPr txBox="1"/>
          <p:nvPr/>
        </p:nvSpPr>
        <p:spPr>
          <a:xfrm>
            <a:off x="4146882" y="1777652"/>
            <a:ext cx="3144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Rôles clés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CDO - Stratégie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DPO - Conformité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Data Stewards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8FBB4C5-DA87-2FCE-7A47-40E7140B9C44}"/>
              </a:ext>
            </a:extLst>
          </p:cNvPr>
          <p:cNvSpPr txBox="1"/>
          <p:nvPr/>
        </p:nvSpPr>
        <p:spPr>
          <a:xfrm>
            <a:off x="7461279" y="1742426"/>
            <a:ext cx="31442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dirty="0">
                <a:effectLst/>
                <a:latin typeface="ui-sans-serif"/>
              </a:rPr>
              <a:t>Piliers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Qualité des données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Conformité et éthique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Innovation</a:t>
            </a:r>
          </a:p>
          <a:p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D6E1AC9E-7BF9-5CF0-0F00-30D3388DD70D}"/>
              </a:ext>
            </a:extLst>
          </p:cNvPr>
          <p:cNvSpPr/>
          <p:nvPr/>
        </p:nvSpPr>
        <p:spPr>
          <a:xfrm>
            <a:off x="502920" y="3851148"/>
            <a:ext cx="9509760" cy="19293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17B80DB-8CD2-475C-5717-F8A972E3FC0B}"/>
              </a:ext>
            </a:extLst>
          </p:cNvPr>
          <p:cNvSpPr txBox="1"/>
          <p:nvPr/>
        </p:nvSpPr>
        <p:spPr>
          <a:xfrm>
            <a:off x="666794" y="3923161"/>
            <a:ext cx="3480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Solutions Technologiques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75230DE-5B16-0D66-8FD9-EC7B386A7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775" y="4648127"/>
            <a:ext cx="2080651" cy="58739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F37F433-8198-AC97-58B9-FE044EE88B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882" y="4617549"/>
            <a:ext cx="1975780" cy="58739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C01629B-4331-5089-7CF4-39A9686256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118" y="4617549"/>
            <a:ext cx="2180136" cy="58739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ED646C10-0C79-F384-2790-E0353861AEF8}"/>
              </a:ext>
            </a:extLst>
          </p:cNvPr>
          <p:cNvSpPr txBox="1"/>
          <p:nvPr/>
        </p:nvSpPr>
        <p:spPr>
          <a:xfrm>
            <a:off x="1149863" y="5235521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Catalogue de données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53634DC-85A5-2803-DA5C-1D1DB09DDD1E}"/>
              </a:ext>
            </a:extLst>
          </p:cNvPr>
          <p:cNvSpPr txBox="1"/>
          <p:nvPr/>
        </p:nvSpPr>
        <p:spPr>
          <a:xfrm>
            <a:off x="4048125" y="5168122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Qualité des données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9A1DB00-8A8A-0BDC-17F7-C01CB3936ED5}"/>
              </a:ext>
            </a:extLst>
          </p:cNvPr>
          <p:cNvSpPr txBox="1"/>
          <p:nvPr/>
        </p:nvSpPr>
        <p:spPr>
          <a:xfrm>
            <a:off x="7285931" y="5168122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Conformité</a:t>
            </a:r>
          </a:p>
        </p:txBody>
      </p:sp>
    </p:spTree>
    <p:extLst>
      <p:ext uri="{BB962C8B-B14F-4D97-AF65-F5344CB8AC3E}">
        <p14:creationId xmlns:p14="http://schemas.microsoft.com/office/powerpoint/2010/main" val="641344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" r="-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387" y="1090390"/>
            <a:ext cx="10648791" cy="4495746"/>
          </a:xfrm>
          <a:custGeom>
            <a:avLst/>
            <a:gdLst/>
            <a:ahLst/>
            <a:cxnLst/>
            <a:rect l="l" t="t" r="r" b="b"/>
            <a:pathLst>
              <a:path w="15973186" h="6743619">
                <a:moveTo>
                  <a:pt x="0" y="0"/>
                </a:moveTo>
                <a:lnTo>
                  <a:pt x="15973187" y="0"/>
                </a:lnTo>
                <a:lnTo>
                  <a:pt x="15973187" y="6743619"/>
                </a:lnTo>
                <a:lnTo>
                  <a:pt x="0" y="67436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16594" y="0"/>
            <a:ext cx="1187475" cy="444542"/>
          </a:xfrm>
          <a:custGeom>
            <a:avLst/>
            <a:gdLst/>
            <a:ahLst/>
            <a:cxnLst/>
            <a:rect l="l" t="t" r="r" b="b"/>
            <a:pathLst>
              <a:path w="1781212" h="666813">
                <a:moveTo>
                  <a:pt x="0" y="0"/>
                </a:moveTo>
                <a:lnTo>
                  <a:pt x="1781212" y="0"/>
                </a:lnTo>
                <a:lnTo>
                  <a:pt x="1781212" y="666813"/>
                </a:lnTo>
                <a:lnTo>
                  <a:pt x="0" y="666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704069" y="1"/>
            <a:ext cx="1445821" cy="3647791"/>
          </a:xfrm>
          <a:custGeom>
            <a:avLst/>
            <a:gdLst/>
            <a:ahLst/>
            <a:cxnLst/>
            <a:rect l="l" t="t" r="r" b="b"/>
            <a:pathLst>
              <a:path w="2168732" h="5471687">
                <a:moveTo>
                  <a:pt x="0" y="0"/>
                </a:moveTo>
                <a:lnTo>
                  <a:pt x="2168732" y="0"/>
                </a:lnTo>
                <a:lnTo>
                  <a:pt x="2168732" y="5471687"/>
                </a:lnTo>
                <a:lnTo>
                  <a:pt x="0" y="54716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704069" y="3712969"/>
            <a:ext cx="1553823" cy="3231951"/>
          </a:xfrm>
          <a:custGeom>
            <a:avLst/>
            <a:gdLst/>
            <a:ahLst/>
            <a:cxnLst/>
            <a:rect l="l" t="t" r="r" b="b"/>
            <a:pathLst>
              <a:path w="2330734" h="4847927">
                <a:moveTo>
                  <a:pt x="0" y="0"/>
                </a:moveTo>
                <a:lnTo>
                  <a:pt x="2330734" y="0"/>
                </a:lnTo>
                <a:lnTo>
                  <a:pt x="2330734" y="4847927"/>
                </a:lnTo>
                <a:lnTo>
                  <a:pt x="0" y="48479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4255BB9-DC95-5A65-A944-31CED1DECC65}"/>
              </a:ext>
            </a:extLst>
          </p:cNvPr>
          <p:cNvSpPr txBox="1"/>
          <p:nvPr/>
        </p:nvSpPr>
        <p:spPr>
          <a:xfrm>
            <a:off x="1225215" y="252808"/>
            <a:ext cx="4870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7030A0"/>
                </a:solidFill>
              </a:rPr>
              <a:t>Organigramme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8CA3-D7FA-F472-37D2-1A595EAF8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DD9E6553-D706-6DDA-7D09-1240D0822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4C6001F-539F-F249-4330-D1691A65D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DB6F5D5-068D-A3A7-F583-5373AB8002D0}"/>
              </a:ext>
            </a:extLst>
          </p:cNvPr>
          <p:cNvSpPr txBox="1"/>
          <p:nvPr/>
        </p:nvSpPr>
        <p:spPr>
          <a:xfrm>
            <a:off x="1247775" y="312862"/>
            <a:ext cx="3977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7030A0"/>
                </a:solidFill>
              </a:rPr>
              <a:t>Plan d’Actions  1/2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C4DF847-3E6E-1B0A-B2B8-CFBD4C473E7A}"/>
              </a:ext>
            </a:extLst>
          </p:cNvPr>
          <p:cNvSpPr txBox="1"/>
          <p:nvPr/>
        </p:nvSpPr>
        <p:spPr>
          <a:xfrm>
            <a:off x="1247775" y="818627"/>
            <a:ext cx="347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Phase 1 : Pilote   Marketing Europe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F7970E-B103-E885-0666-5D92A9CBB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03" y="1237990"/>
            <a:ext cx="10244911" cy="531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2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2EA7-784A-62FD-1202-F583595B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ganigramme : Terminateur 9">
            <a:extLst>
              <a:ext uri="{FF2B5EF4-FFF2-40B4-BE49-F238E27FC236}">
                <a16:creationId xmlns:a16="http://schemas.microsoft.com/office/drawing/2014/main" id="{2125984A-8E10-C5C9-54EC-100831091664}"/>
              </a:ext>
            </a:extLst>
          </p:cNvPr>
          <p:cNvSpPr/>
          <p:nvPr/>
        </p:nvSpPr>
        <p:spPr>
          <a:xfrm>
            <a:off x="3508808" y="3924282"/>
            <a:ext cx="3581400" cy="1352550"/>
          </a:xfrm>
          <a:prstGeom prst="flowChartTerminator">
            <a:avLst/>
          </a:prstGeom>
          <a:solidFill>
            <a:srgbClr val="FFFB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28C3508-C2BE-1D54-F866-D76850D7E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3052289-C72D-2F44-DA8B-C82E1C86A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452422-9E54-15F1-FB86-EA304B3FB0EC}"/>
              </a:ext>
            </a:extLst>
          </p:cNvPr>
          <p:cNvSpPr txBox="1"/>
          <p:nvPr/>
        </p:nvSpPr>
        <p:spPr>
          <a:xfrm>
            <a:off x="1362076" y="1118616"/>
            <a:ext cx="3000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Phase 2 : Déploiement global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5928193-3BCF-F8D1-6C17-A948CD2FD6EC}"/>
              </a:ext>
            </a:extLst>
          </p:cNvPr>
          <p:cNvSpPr txBox="1"/>
          <p:nvPr/>
        </p:nvSpPr>
        <p:spPr>
          <a:xfrm>
            <a:off x="1519987" y="374642"/>
            <a:ext cx="4966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7030A0"/>
                </a:solidFill>
              </a:rPr>
              <a:t>Plan d’Actions  2/2  et KPIs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0E932F4-B86F-1EE4-20FC-8ACD894F7909}"/>
              </a:ext>
            </a:extLst>
          </p:cNvPr>
          <p:cNvSpPr/>
          <p:nvPr/>
        </p:nvSpPr>
        <p:spPr>
          <a:xfrm>
            <a:off x="1226820" y="1590684"/>
            <a:ext cx="2830830" cy="1616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030712"/>
                </a:solidFill>
                <a:effectLst/>
                <a:latin typeface="ui-sans-serif"/>
              </a:rPr>
              <a:t>Extension progressive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030712"/>
                </a:solidFill>
                <a:effectLst/>
                <a:latin typeface="ui-sans-serif"/>
              </a:rPr>
              <a:t>Adaptations locales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030712"/>
                </a:solidFill>
                <a:effectLst/>
                <a:latin typeface="ui-sans-serif"/>
              </a:rPr>
              <a:t>Support continu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297A344-7441-060D-6AF1-D5E57DA844EC}"/>
              </a:ext>
            </a:extLst>
          </p:cNvPr>
          <p:cNvSpPr txBox="1"/>
          <p:nvPr/>
        </p:nvSpPr>
        <p:spPr>
          <a:xfrm>
            <a:off x="6791325" y="1023366"/>
            <a:ext cx="3000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KPIs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7C4EA1B-61E4-45EC-509A-948116C662AC}"/>
              </a:ext>
            </a:extLst>
          </p:cNvPr>
          <p:cNvSpPr/>
          <p:nvPr/>
        </p:nvSpPr>
        <p:spPr>
          <a:xfrm>
            <a:off x="6791325" y="1590684"/>
            <a:ext cx="5000625" cy="1616072"/>
          </a:xfrm>
          <a:prstGeom prst="roundRect">
            <a:avLst/>
          </a:prstGeom>
          <a:solidFill>
            <a:srgbClr val="CEE6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fr-F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ualité data : - 30 % anomalies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Conformité : 100 %Conformité RGPD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Efficacité opérationnelle : - 50 % temps d’accès</a:t>
            </a:r>
            <a:endParaRPr lang="fr-FR" b="0" i="0" dirty="0">
              <a:solidFill>
                <a:schemeClr val="tx1"/>
              </a:solidFill>
              <a:effectLst/>
              <a:latin typeface="ui-sans-serif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E78B061-8FD2-2708-F16B-5683ECA5F753}"/>
              </a:ext>
            </a:extLst>
          </p:cNvPr>
          <p:cNvSpPr txBox="1"/>
          <p:nvPr/>
        </p:nvSpPr>
        <p:spPr>
          <a:xfrm>
            <a:off x="3930015" y="4113379"/>
            <a:ext cx="2737485" cy="923330"/>
          </a:xfrm>
          <a:prstGeom prst="rect">
            <a:avLst/>
          </a:prstGeom>
          <a:solidFill>
            <a:srgbClr val="FFFBEF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Conduite du changement et </a:t>
            </a:r>
          </a:p>
          <a:p>
            <a:pPr algn="ctr"/>
            <a:r>
              <a:rPr lang="fr-FR" dirty="0"/>
              <a:t>formations</a:t>
            </a:r>
          </a:p>
        </p:txBody>
      </p:sp>
    </p:spTree>
    <p:extLst>
      <p:ext uri="{BB962C8B-B14F-4D97-AF65-F5344CB8AC3E}">
        <p14:creationId xmlns:p14="http://schemas.microsoft.com/office/powerpoint/2010/main" val="187571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33713-CE4E-74DC-BB94-A9CC1829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A818A52-D76F-A254-215E-1ED2AE548D0C}"/>
              </a:ext>
            </a:extLst>
          </p:cNvPr>
          <p:cNvSpPr/>
          <p:nvPr/>
        </p:nvSpPr>
        <p:spPr>
          <a:xfrm>
            <a:off x="5627370" y="3807356"/>
            <a:ext cx="4297681" cy="19293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6EABE4D-7D58-B0D2-FCFF-6904A7F81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2786F461-105E-0FF1-E0D7-6189D0FF3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A0BF702-3C0E-038D-5508-9528C08E349C}"/>
              </a:ext>
            </a:extLst>
          </p:cNvPr>
          <p:cNvSpPr txBox="1"/>
          <p:nvPr/>
        </p:nvSpPr>
        <p:spPr>
          <a:xfrm>
            <a:off x="1091563" y="446524"/>
            <a:ext cx="4690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7030A0"/>
                </a:solidFill>
              </a:rPr>
              <a:t>Bénéfices et Perspectives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B490037-2BAB-4FB8-7139-4BA98D769EB7}"/>
              </a:ext>
            </a:extLst>
          </p:cNvPr>
          <p:cNvSpPr/>
          <p:nvPr/>
        </p:nvSpPr>
        <p:spPr>
          <a:xfrm>
            <a:off x="655320" y="1365123"/>
            <a:ext cx="9509760" cy="19293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FECA5A-A182-D930-00B1-A1E7FD070142}"/>
              </a:ext>
            </a:extLst>
          </p:cNvPr>
          <p:cNvSpPr txBox="1"/>
          <p:nvPr/>
        </p:nvSpPr>
        <p:spPr>
          <a:xfrm>
            <a:off x="1247775" y="1724025"/>
            <a:ext cx="2419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dirty="0">
                <a:solidFill>
                  <a:srgbClr val="030712"/>
                </a:solidFill>
                <a:effectLst/>
                <a:latin typeface="ui-sans-serif"/>
              </a:rPr>
              <a:t>Business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Décisions optimisées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Efficacité accrue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Innovation facilitée</a:t>
            </a:r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9BBBF36-FFBE-9012-AB07-A3F81CFE7579}"/>
              </a:ext>
            </a:extLst>
          </p:cNvPr>
          <p:cNvSpPr txBox="1"/>
          <p:nvPr/>
        </p:nvSpPr>
        <p:spPr>
          <a:xfrm>
            <a:off x="4259580" y="1724025"/>
            <a:ext cx="2419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dirty="0">
                <a:solidFill>
                  <a:srgbClr val="030712"/>
                </a:solidFill>
                <a:effectLst/>
                <a:latin typeface="ui-sans-serif"/>
              </a:rPr>
              <a:t>Conformité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Risques maîtrisés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Processus automatisés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Audit structuré</a:t>
            </a:r>
          </a:p>
          <a:p>
            <a:pPr algn="l"/>
            <a:endParaRPr lang="fr-FR" b="0" i="0" dirty="0">
              <a:solidFill>
                <a:srgbClr val="030712"/>
              </a:solidFill>
              <a:effectLst/>
              <a:latin typeface="ui-sans-serif"/>
            </a:endParaRPr>
          </a:p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34AA952-F563-142D-883E-4B68EA4BEFEC}"/>
              </a:ext>
            </a:extLst>
          </p:cNvPr>
          <p:cNvSpPr txBox="1"/>
          <p:nvPr/>
        </p:nvSpPr>
        <p:spPr>
          <a:xfrm>
            <a:off x="7212330" y="1724025"/>
            <a:ext cx="2419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dirty="0">
                <a:effectLst/>
                <a:latin typeface="ui-sans-serif"/>
              </a:rPr>
              <a:t>Innovation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IA responsable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Nouveaux services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30712"/>
                </a:solidFill>
                <a:effectLst/>
                <a:latin typeface="ui-sans-serif"/>
              </a:rPr>
              <a:t>Expérience améliorée</a:t>
            </a:r>
          </a:p>
          <a:p>
            <a:pPr algn="l"/>
            <a:endParaRPr lang="fr-FR" b="0" i="0" dirty="0">
              <a:solidFill>
                <a:srgbClr val="030712"/>
              </a:solidFill>
              <a:effectLst/>
              <a:latin typeface="ui-sans-serif"/>
            </a:endParaRPr>
          </a:p>
          <a:p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CFA1372-E91F-5832-41CB-6209993BCEE2}"/>
              </a:ext>
            </a:extLst>
          </p:cNvPr>
          <p:cNvSpPr/>
          <p:nvPr/>
        </p:nvSpPr>
        <p:spPr>
          <a:xfrm>
            <a:off x="655320" y="3837253"/>
            <a:ext cx="4297681" cy="19293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9905297-B354-853F-584C-6E40AF7747E4}"/>
              </a:ext>
            </a:extLst>
          </p:cNvPr>
          <p:cNvSpPr txBox="1"/>
          <p:nvPr/>
        </p:nvSpPr>
        <p:spPr>
          <a:xfrm>
            <a:off x="6081714" y="3806539"/>
            <a:ext cx="256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Facteurs clés du succès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AEC310F-6BEA-6DF9-802C-6B8BF813E8B3}"/>
              </a:ext>
            </a:extLst>
          </p:cNvPr>
          <p:cNvSpPr txBox="1"/>
          <p:nvPr/>
        </p:nvSpPr>
        <p:spPr>
          <a:xfrm>
            <a:off x="5960744" y="4175871"/>
            <a:ext cx="33832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fr-FR" dirty="0"/>
              <a:t>Engagement de la Direction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fr-FR" dirty="0"/>
              <a:t>Culture &amp; Capital Humain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fr-FR" dirty="0"/>
              <a:t>Approche Progressive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fr-FR" dirty="0"/>
              <a:t>Balance Gouvernance/Agilité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fr-FR" dirty="0"/>
              <a:t>Création de Valeur Mesurable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F1972EF-E905-C119-FEC5-E6EA0A5E90A0}"/>
              </a:ext>
            </a:extLst>
          </p:cNvPr>
          <p:cNvSpPr txBox="1"/>
          <p:nvPr/>
        </p:nvSpPr>
        <p:spPr>
          <a:xfrm>
            <a:off x="909636" y="1411522"/>
            <a:ext cx="256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Bénéfices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80ED4E8-F2BB-FDDD-5EE8-87BBBC9C2D21}"/>
              </a:ext>
            </a:extLst>
          </p:cNvPr>
          <p:cNvSpPr txBox="1"/>
          <p:nvPr/>
        </p:nvSpPr>
        <p:spPr>
          <a:xfrm>
            <a:off x="868747" y="3939547"/>
            <a:ext cx="256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Perspectives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D84021-CFCF-F278-857B-39CFACCD89BC}"/>
              </a:ext>
            </a:extLst>
          </p:cNvPr>
          <p:cNvSpPr txBox="1"/>
          <p:nvPr/>
        </p:nvSpPr>
        <p:spPr>
          <a:xfrm>
            <a:off x="821123" y="4307327"/>
            <a:ext cx="4131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Monétisation Responsable : </a:t>
            </a:r>
          </a:p>
          <a:p>
            <a:pPr lvl="1"/>
            <a:r>
              <a:rPr lang="fr-FR" dirty="0"/>
              <a:t>nouveaux services basés sur la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Accélération time-to-</a:t>
            </a:r>
            <a:r>
              <a:rPr lang="fr-FR" dirty="0" err="1"/>
              <a:t>market</a:t>
            </a:r>
            <a:endParaRPr lang="fr-FR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Veille réglementaire proactive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Culture Data </a:t>
            </a:r>
          </a:p>
        </p:txBody>
      </p:sp>
    </p:spTree>
    <p:extLst>
      <p:ext uri="{BB962C8B-B14F-4D97-AF65-F5344CB8AC3E}">
        <p14:creationId xmlns:p14="http://schemas.microsoft.com/office/powerpoint/2010/main" val="11140001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</TotalTime>
  <Words>195</Words>
  <Application>Microsoft Office PowerPoint</Application>
  <PresentationFormat>Grand écran</PresentationFormat>
  <Paragraphs>70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ui-sans-serif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 LE MER</dc:creator>
  <cp:lastModifiedBy>Anne LE MER</cp:lastModifiedBy>
  <cp:revision>13</cp:revision>
  <dcterms:created xsi:type="dcterms:W3CDTF">2025-01-25T11:25:48Z</dcterms:created>
  <dcterms:modified xsi:type="dcterms:W3CDTF">2025-03-17T09:28:18Z</dcterms:modified>
</cp:coreProperties>
</file>